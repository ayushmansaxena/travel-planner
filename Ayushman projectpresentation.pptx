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310" r:id="rId5"/>
    <p:sldId id="293" r:id="rId6"/>
    <p:sldId id="294" r:id="rId7"/>
    <p:sldId id="295" r:id="rId8"/>
    <p:sldId id="296" r:id="rId9"/>
    <p:sldId id="297" r:id="rId10"/>
    <p:sldId id="298" r:id="rId11"/>
    <p:sldId id="299" r:id="rId12"/>
    <p:sldId id="301" r:id="rId13"/>
    <p:sldId id="302" r:id="rId14"/>
    <p:sldId id="303" r:id="rId15"/>
    <p:sldId id="304" r:id="rId16"/>
    <p:sldId id="306" r:id="rId17"/>
    <p:sldId id="305"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p:scale>
          <a:sx n="33" d="100"/>
          <a:sy n="33" d="100"/>
        </p:scale>
        <p:origin x="-600" y="-1363"/>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xmlns=""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xmlns=""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xmlns=""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28420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877358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945871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a16="http://schemas.microsoft.com/office/drawing/2014/main" xmlns=""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xmlns=""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nvGraphicFramePr>
        <p:xfrm>
          <a:off x="1045028" y="2600315"/>
          <a:ext cx="9649218" cy="2167128"/>
        </p:xfrm>
        <a:graphic>
          <a:graphicData uri="http://schemas.openxmlformats.org/drawingml/2006/table">
            <a:tbl>
              <a:tblPr>
                <a:noFill/>
                <a:tableStyleId>{0AAD8F4D-43EB-41E5-8A38-28AB6DFB1B60}</a:tableStyleId>
              </a:tblPr>
              <a:tblGrid>
                <a:gridCol w="2120742">
                  <a:extLst>
                    <a:ext uri="{9D8B030D-6E8A-4147-A177-3AD203B41FA5}">
                      <a16:colId xmlns:a16="http://schemas.microsoft.com/office/drawing/2014/main" xmlns="" val="20000"/>
                    </a:ext>
                  </a:extLst>
                </a:gridCol>
                <a:gridCol w="2509492">
                  <a:extLst>
                    <a:ext uri="{9D8B030D-6E8A-4147-A177-3AD203B41FA5}">
                      <a16:colId xmlns:a16="http://schemas.microsoft.com/office/drawing/2014/main" xmlns="" val="20002"/>
                    </a:ext>
                  </a:extLst>
                </a:gridCol>
                <a:gridCol w="2509492">
                  <a:extLst>
                    <a:ext uri="{9D8B030D-6E8A-4147-A177-3AD203B41FA5}">
                      <a16:colId xmlns:a16="http://schemas.microsoft.com/office/drawing/2014/main" xmlns="" val="20003"/>
                    </a:ext>
                  </a:extLst>
                </a:gridCol>
                <a:gridCol w="2509492">
                  <a:extLst>
                    <a:ext uri="{9D8B030D-6E8A-4147-A177-3AD203B41FA5}">
                      <a16:colId xmlns:a16="http://schemas.microsoft.com/office/drawing/2014/main" xmlns=""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1193891">
                <a:tc>
                  <a:txBody>
                    <a:bodyPr/>
                    <a:lstStyle/>
                    <a:p>
                      <a:pPr marL="0" marR="0" lvl="0" indent="0" algn="l" rtl="0">
                        <a:spcBef>
                          <a:spcPts val="0"/>
                        </a:spcBef>
                        <a:spcAft>
                          <a:spcPts val="0"/>
                        </a:spcAft>
                        <a:buNone/>
                      </a:pPr>
                      <a:r>
                        <a:rPr lang="en-US" dirty="0" err="1" smtClean="0"/>
                        <a:t>Ayushman</a:t>
                      </a:r>
                      <a:r>
                        <a:rPr lang="en-US" baseline="0" dirty="0" smtClean="0"/>
                        <a:t> </a:t>
                      </a:r>
                      <a:r>
                        <a:rPr lang="en-US" baseline="0" dirty="0" err="1" smtClean="0"/>
                        <a:t>Saxena</a:t>
                      </a: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saxenanaman05@gmail.com</a:t>
                      </a: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9264988354</a:t>
                      </a: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bl>
          </a:graphicData>
        </a:graphic>
      </p:graphicFrame>
      <p:pic>
        <p:nvPicPr>
          <p:cNvPr id="98" name="Google Shape;98;p2"/>
          <p:cNvPicPr preferRelativeResize="0"/>
          <p:nvPr/>
        </p:nvPicPr>
        <p:blipFill>
          <a:blip r:embed="rId3"/>
          <a:stretch>
            <a:fillRect/>
          </a:stretch>
        </p:blipFill>
        <p:spPr>
          <a:xfrm>
            <a:off x="4191000" y="3738417"/>
            <a:ext cx="838200" cy="909783"/>
          </a:xfrm>
          <a:prstGeom prst="rect">
            <a:avLst/>
          </a:prstGeom>
          <a:noFill/>
          <a:ln>
            <a:noFill/>
          </a:ln>
        </p:spPr>
      </p:pic>
      <p:sp>
        <p:nvSpPr>
          <p:cNvPr id="4" name="TextBox 3">
            <a:extLst>
              <a:ext uri="{FF2B5EF4-FFF2-40B4-BE49-F238E27FC236}">
                <a16:creationId xmlns:a16="http://schemas.microsoft.com/office/drawing/2014/main" xmlns=""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smtClean="0">
                <a:highlight>
                  <a:srgbClr val="FFFF00"/>
                </a:highlight>
              </a:rPr>
              <a:t>Travel &amp; Tourism </a:t>
            </a:r>
            <a:endParaRPr lang="en-IN" sz="2400" b="1" dirty="0">
              <a:highlight>
                <a:srgbClr val="FFFF00"/>
              </a:highlight>
            </a:endParaRPr>
          </a:p>
        </p:txBody>
      </p:sp>
      <p:sp>
        <p:nvSpPr>
          <p:cNvPr id="7" name="TextBox 6">
            <a:extLst>
              <a:ext uri="{FF2B5EF4-FFF2-40B4-BE49-F238E27FC236}">
                <a16:creationId xmlns:a16="http://schemas.microsoft.com/office/drawing/2014/main" xmlns=""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smtClean="0">
                <a:highlight>
                  <a:srgbClr val="FFFF00"/>
                </a:highlight>
              </a:rPr>
              <a:t>Travel Planner</a:t>
            </a:r>
            <a:endParaRPr lang="en-IN" sz="2400" b="1" dirty="0">
              <a:highlight>
                <a:srgbClr val="FFFF00"/>
              </a:highlight>
            </a:endParaRPr>
          </a:p>
        </p:txBody>
      </p:sp>
    </p:spTree>
    <p:extLst>
      <p:ext uri="{BB962C8B-B14F-4D97-AF65-F5344CB8AC3E}">
        <p14:creationId xmlns:p14="http://schemas.microsoft.com/office/powerpoint/2010/main" xmlns=""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576072" y="1234440"/>
            <a:ext cx="10607040" cy="3693319"/>
          </a:xfrm>
          <a:prstGeom prst="rect">
            <a:avLst/>
          </a:prstGeom>
          <a:noFill/>
        </p:spPr>
        <p:txBody>
          <a:bodyPr wrap="square" rtlCol="0">
            <a:spAutoFit/>
          </a:bodyPr>
          <a:lstStyle/>
          <a:p>
            <a:pPr fontAlgn="base"/>
            <a:r>
              <a:rPr lang="en-US" sz="2000" b="1" dirty="0"/>
              <a:t>Problem Statement : </a:t>
            </a:r>
            <a:r>
              <a:rPr lang="en-US" sz="2000" b="1" dirty="0" smtClean="0"/>
              <a:t>Travel Planner</a:t>
            </a:r>
            <a:r>
              <a:rPr lang="en-US" sz="2000" b="1" dirty="0" smtClean="0"/>
              <a:t> </a:t>
            </a:r>
            <a:r>
              <a:rPr lang="en-US" sz="2000" b="1" dirty="0"/>
              <a:t>Agent</a:t>
            </a:r>
            <a:r>
              <a:rPr lang="en-US" sz="2000" dirty="0"/>
              <a:t> </a:t>
            </a:r>
            <a:endParaRPr lang="en-US" sz="2000" b="1" dirty="0"/>
          </a:p>
          <a:p>
            <a:pPr fontAlgn="base"/>
            <a:r>
              <a:rPr lang="en-US" sz="2000" b="1" dirty="0"/>
              <a:t>The Challenge</a:t>
            </a:r>
            <a:r>
              <a:rPr lang="en-US" sz="2000" dirty="0"/>
              <a:t> </a:t>
            </a:r>
          </a:p>
          <a:p>
            <a:r>
              <a:rPr lang="en-US" sz="2000" dirty="0" smtClean="0"/>
              <a:t>Planning a trip can be time-consuming and complicated because </a:t>
            </a:r>
            <a:r>
              <a:rPr lang="en-US" sz="2000" dirty="0" err="1" smtClean="0"/>
              <a:t>travellers</a:t>
            </a:r>
            <a:r>
              <a:rPr lang="en-US" sz="2000" dirty="0" smtClean="0"/>
              <a:t> need to consider multiple factors such as destination, budget, travel duration, transportation, accommodation, sightseeing, food, and personal interests. Traditional travel-planning methods often require users to search across multiple platforms and manually organize information, making it difficult to create a plan that fits their specific needs.</a:t>
            </a:r>
          </a:p>
          <a:p>
            <a:r>
              <a:rPr lang="en-US" sz="2000" dirty="0" smtClean="0"/>
              <a:t>The challenge is to develop an </a:t>
            </a:r>
            <a:r>
              <a:rPr lang="en-US" sz="2000" b="1" dirty="0" smtClean="0"/>
              <a:t>AI-powered Travel Planner Agent</a:t>
            </a:r>
            <a:r>
              <a:rPr lang="en-US" sz="2000" dirty="0" smtClean="0"/>
              <a:t> that can understand a </a:t>
            </a:r>
            <a:r>
              <a:rPr lang="en-US" sz="2000" dirty="0" err="1" smtClean="0"/>
              <a:t>traveller's</a:t>
            </a:r>
            <a:r>
              <a:rPr lang="en-US" sz="2000" dirty="0" smtClean="0"/>
              <a:t> requirements through natural conversation and generate a personalized, budget-conscious travel plan. The agent should be able to adapt the itinerary when the </a:t>
            </a:r>
            <a:r>
              <a:rPr lang="en-US" sz="2000" dirty="0" err="1" smtClean="0"/>
              <a:t>traveller</a:t>
            </a:r>
            <a:r>
              <a:rPr lang="en-US" sz="2000" dirty="0" smtClean="0"/>
              <a:t> changes their preferences, budget, duration, or other constraints</a:t>
            </a:r>
            <a:r>
              <a:rPr lang="en-US" sz="2000" dirty="0" smtClean="0"/>
              <a:t>.</a:t>
            </a:r>
            <a:endParaRPr lang="en-US" dirty="0"/>
          </a:p>
          <a:p>
            <a:endParaRPr lang="en-IN" dirty="0"/>
          </a:p>
        </p:txBody>
      </p:sp>
      <p:sp>
        <p:nvSpPr>
          <p:cNvPr id="3" name="TextBox 2">
            <a:extLst>
              <a:ext uri="{FF2B5EF4-FFF2-40B4-BE49-F238E27FC236}">
                <a16:creationId xmlns:a16="http://schemas.microsoft.com/office/drawing/2014/main" xmlns="" id="{3847FA31-EA47-D27A-9D69-AF50A3080AEC}"/>
              </a:ext>
            </a:extLst>
          </p:cNvPr>
          <p:cNvSpPr txBox="1"/>
          <p:nvPr/>
        </p:nvSpPr>
        <p:spPr>
          <a:xfrm>
            <a:off x="576072" y="704088"/>
            <a:ext cx="7214616" cy="523220"/>
          </a:xfrm>
          <a:prstGeom prst="rect">
            <a:avLst/>
          </a:prstGeom>
          <a:noFill/>
        </p:spPr>
        <p:txBody>
          <a:bodyPr wrap="square" rtlCol="0">
            <a:spAutoFit/>
          </a:bodyPr>
          <a:lstStyle/>
          <a:p>
            <a:r>
              <a:rPr lang="en-US" sz="2800" b="1" dirty="0"/>
              <a:t>Problem Statement -</a:t>
            </a:r>
            <a:endParaRPr lang="en-IN" sz="2800" b="1" dirty="0"/>
          </a:p>
        </p:txBody>
      </p:sp>
    </p:spTree>
    <p:extLst>
      <p:ext uri="{BB962C8B-B14F-4D97-AF65-F5344CB8AC3E}">
        <p14:creationId xmlns:p14="http://schemas.microsoft.com/office/powerpoint/2010/main" xmlns=""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C6F6745E-14BA-0766-CE1E-32E29663832D}"/>
              </a:ext>
            </a:extLst>
          </p:cNvPr>
          <p:cNvSpPr txBox="1"/>
          <p:nvPr/>
        </p:nvSpPr>
        <p:spPr>
          <a:xfrm>
            <a:off x="576072" y="1234440"/>
            <a:ext cx="10607040" cy="5447645"/>
          </a:xfrm>
          <a:prstGeom prst="rect">
            <a:avLst/>
          </a:prstGeom>
          <a:noFill/>
        </p:spPr>
        <p:txBody>
          <a:bodyPr wrap="square" rtlCol="0">
            <a:spAutoFit/>
          </a:bodyPr>
          <a:lstStyle/>
          <a:p>
            <a:pPr fontAlgn="base"/>
            <a:r>
              <a:rPr lang="en-US" sz="2000" b="1" dirty="0"/>
              <a:t>Problem Statement : </a:t>
            </a:r>
            <a:r>
              <a:rPr lang="en-US" sz="2000" b="1" dirty="0" smtClean="0"/>
              <a:t>Travel Planner</a:t>
            </a:r>
            <a:r>
              <a:rPr lang="en-US" sz="2000" b="1" dirty="0" smtClean="0"/>
              <a:t> </a:t>
            </a:r>
            <a:r>
              <a:rPr lang="en-US" sz="2000" b="1" dirty="0"/>
              <a:t>Agent</a:t>
            </a:r>
            <a:r>
              <a:rPr lang="en-US" sz="2000" dirty="0"/>
              <a:t> </a:t>
            </a:r>
            <a:endParaRPr lang="en-US" sz="2000" b="1" dirty="0"/>
          </a:p>
          <a:p>
            <a:r>
              <a:rPr lang="en-US" sz="2000" b="1" dirty="0" smtClean="0"/>
              <a:t>Objectives</a:t>
            </a:r>
            <a:endParaRPr lang="en-US" sz="2000" b="1" dirty="0" smtClean="0"/>
          </a:p>
          <a:p>
            <a:r>
              <a:rPr lang="en-US" sz="2000" b="1" dirty="0" smtClean="0"/>
              <a:t>Personalized Trip Planning</a:t>
            </a:r>
            <a:r>
              <a:rPr lang="en-US" sz="2000" dirty="0" smtClean="0"/>
              <a:t> – Generate travel plans based on the user's destination, budget, duration, interests, and preferences.</a:t>
            </a:r>
          </a:p>
          <a:p>
            <a:r>
              <a:rPr lang="en-US" sz="2000" b="1" dirty="0" smtClean="0"/>
              <a:t>AI-Powered Recommendations</a:t>
            </a:r>
            <a:r>
              <a:rPr lang="en-US" sz="2000" dirty="0" smtClean="0"/>
              <a:t> – Use </a:t>
            </a:r>
            <a:r>
              <a:rPr lang="en-US" sz="2000" b="1" dirty="0" smtClean="0"/>
              <a:t>IBM Granite</a:t>
            </a:r>
            <a:r>
              <a:rPr lang="en-US" sz="2000" dirty="0" smtClean="0"/>
              <a:t> to generate intelligent suggestions for destinations, attractions, activities, food, transport, and accommodation.</a:t>
            </a:r>
          </a:p>
          <a:p>
            <a:r>
              <a:rPr lang="en-US" sz="2000" b="1" dirty="0" smtClean="0"/>
              <a:t>Conversational Travel Assistance</a:t>
            </a:r>
            <a:r>
              <a:rPr lang="en-US" sz="2000" dirty="0" smtClean="0"/>
              <a:t> – Provide a natural, interactive experience through </a:t>
            </a:r>
            <a:r>
              <a:rPr lang="en-US" sz="2000" b="1" dirty="0" smtClean="0"/>
              <a:t>IBM </a:t>
            </a:r>
            <a:r>
              <a:rPr lang="en-US" sz="2000" b="1" dirty="0" err="1" smtClean="0"/>
              <a:t>watsonx</a:t>
            </a:r>
            <a:r>
              <a:rPr lang="en-US" sz="2000" b="1" dirty="0" smtClean="0"/>
              <a:t> Assistant</a:t>
            </a:r>
            <a:r>
              <a:rPr lang="en-US" sz="2000" dirty="0" smtClean="0"/>
              <a:t>, allowing users to plan trips through conversation.</a:t>
            </a:r>
          </a:p>
          <a:p>
            <a:r>
              <a:rPr lang="en-US" sz="2000" b="1" dirty="0" smtClean="0"/>
              <a:t>Budget Optimization</a:t>
            </a:r>
            <a:r>
              <a:rPr lang="en-US" sz="2000" dirty="0" smtClean="0"/>
              <a:t> – Create itineraries that consider the user's budget and prioritize cost-effective travel options.</a:t>
            </a:r>
          </a:p>
          <a:p>
            <a:r>
              <a:rPr lang="en-US" sz="2000" b="1" dirty="0" smtClean="0"/>
              <a:t>Dynamic Itinerary Modification</a:t>
            </a:r>
            <a:r>
              <a:rPr lang="en-US" sz="2000" dirty="0" smtClean="0"/>
              <a:t> – Allow users to change their budget, duration, preferences, or activities and automatically regenerate the itinerary.</a:t>
            </a:r>
          </a:p>
          <a:p>
            <a:r>
              <a:rPr lang="en-US" sz="2000" b="1" dirty="0" smtClean="0"/>
              <a:t>User-Friendly Web Experience</a:t>
            </a:r>
            <a:r>
              <a:rPr lang="en-US" sz="2000" dirty="0" smtClean="0"/>
              <a:t> – Use </a:t>
            </a:r>
            <a:r>
              <a:rPr lang="en-US" sz="2000" b="1" dirty="0" smtClean="0"/>
              <a:t>IBM Bob</a:t>
            </a:r>
            <a:r>
              <a:rPr lang="en-US" sz="2000" dirty="0" smtClean="0"/>
              <a:t> to provide an attractive and easy-to-use website where users can interact with the Travel Planner Agent.</a:t>
            </a:r>
          </a:p>
          <a:p>
            <a:r>
              <a:rPr lang="en-US" sz="2000" b="1" dirty="0" smtClean="0"/>
              <a:t>Efficient Travel Planning</a:t>
            </a:r>
            <a:r>
              <a:rPr lang="en-US" sz="2000" dirty="0" smtClean="0"/>
              <a:t> – Reduce the time and effort required to research and organize a complete trip manually.</a:t>
            </a:r>
          </a:p>
          <a:p>
            <a:pPr fontAlgn="base"/>
            <a:endParaRPr lang="en-US" dirty="0"/>
          </a:p>
          <a:p>
            <a:endParaRPr lang="en-IN" dirty="0"/>
          </a:p>
        </p:txBody>
      </p:sp>
      <p:sp>
        <p:nvSpPr>
          <p:cNvPr id="5" name="TextBox 4">
            <a:extLst>
              <a:ext uri="{FF2B5EF4-FFF2-40B4-BE49-F238E27FC236}">
                <a16:creationId xmlns:a16="http://schemas.microsoft.com/office/drawing/2014/main" xmlns="" id="{3847FA31-EA47-D27A-9D69-AF50A3080AEC}"/>
              </a:ext>
            </a:extLst>
          </p:cNvPr>
          <p:cNvSpPr txBox="1"/>
          <p:nvPr/>
        </p:nvSpPr>
        <p:spPr>
          <a:xfrm>
            <a:off x="576072" y="704088"/>
            <a:ext cx="7214616" cy="523220"/>
          </a:xfrm>
          <a:prstGeom prst="rect">
            <a:avLst/>
          </a:prstGeom>
          <a:noFill/>
        </p:spPr>
        <p:txBody>
          <a:bodyPr wrap="square" rtlCol="0">
            <a:spAutoFit/>
          </a:bodyPr>
          <a:lstStyle/>
          <a:p>
            <a:r>
              <a:rPr lang="en-US" sz="2800" b="1" dirty="0"/>
              <a:t>Problem Statement -</a:t>
            </a:r>
            <a:endParaRPr lang="en-IN" sz="28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4A1BF701-ABCA-4DF0-8330-B6AF71EF8E39}"/>
              </a:ext>
            </a:extLst>
          </p:cNvPr>
          <p:cNvSpPr txBox="1"/>
          <p:nvPr/>
        </p:nvSpPr>
        <p:spPr>
          <a:xfrm>
            <a:off x="576072" y="1234440"/>
            <a:ext cx="10607040" cy="4739759"/>
          </a:xfrm>
          <a:prstGeom prst="rect">
            <a:avLst/>
          </a:prstGeom>
          <a:noFill/>
        </p:spPr>
        <p:txBody>
          <a:bodyPr wrap="square" rtlCol="0">
            <a:spAutoFit/>
          </a:bodyPr>
          <a:lstStyle/>
          <a:p>
            <a:pPr fontAlgn="base"/>
            <a:endParaRPr lang="en-US" b="1" dirty="0"/>
          </a:p>
          <a:p>
            <a:r>
              <a:rPr lang="en-US" sz="2000" b="1" dirty="0"/>
              <a:t>Proposed Solution: AI-Powered </a:t>
            </a:r>
            <a:r>
              <a:rPr lang="en-US" sz="2000" b="1" dirty="0" smtClean="0"/>
              <a:t>Travel Planner</a:t>
            </a:r>
            <a:r>
              <a:rPr lang="en-US" sz="2000" b="1" dirty="0" smtClean="0"/>
              <a:t> </a:t>
            </a:r>
            <a:r>
              <a:rPr lang="en-US" sz="2000" b="1" dirty="0"/>
              <a:t>Agent</a:t>
            </a:r>
          </a:p>
          <a:p>
            <a:r>
              <a:rPr lang="en-US" sz="2000" dirty="0" smtClean="0"/>
              <a:t>We </a:t>
            </a:r>
            <a:r>
              <a:rPr lang="en-US" sz="2000" dirty="0" smtClean="0"/>
              <a:t>propose an </a:t>
            </a:r>
            <a:r>
              <a:rPr lang="en-US" sz="2000" b="1" dirty="0" smtClean="0"/>
              <a:t>AI-powered Travel Planner Agent</a:t>
            </a:r>
            <a:r>
              <a:rPr lang="en-US" sz="2000" dirty="0" smtClean="0"/>
              <a:t> that provides a personalized and conversational travel-planning experience. The solution uses </a:t>
            </a:r>
            <a:r>
              <a:rPr lang="en-US" sz="2000" b="1" dirty="0" smtClean="0"/>
              <a:t>IBM Bob</a:t>
            </a:r>
            <a:r>
              <a:rPr lang="en-US" sz="2000" dirty="0" smtClean="0"/>
              <a:t> to build the interactive web interface, </a:t>
            </a:r>
            <a:r>
              <a:rPr lang="en-US" sz="2000" b="1" dirty="0" smtClean="0"/>
              <a:t>IBM </a:t>
            </a:r>
            <a:r>
              <a:rPr lang="en-US" sz="2000" b="1" dirty="0" err="1" smtClean="0"/>
              <a:t>watsonx</a:t>
            </a:r>
            <a:r>
              <a:rPr lang="en-US" sz="2000" b="1" dirty="0" smtClean="0"/>
              <a:t> Assistant</a:t>
            </a:r>
            <a:r>
              <a:rPr lang="en-US" sz="2000" dirty="0" smtClean="0"/>
              <a:t> to manage conversations with </a:t>
            </a:r>
            <a:r>
              <a:rPr lang="en-US" sz="2000" dirty="0" err="1" smtClean="0"/>
              <a:t>travellers</a:t>
            </a:r>
            <a:r>
              <a:rPr lang="en-US" sz="2000" dirty="0" smtClean="0"/>
              <a:t>, and </a:t>
            </a:r>
            <a:r>
              <a:rPr lang="en-US" sz="2000" b="1" dirty="0" smtClean="0"/>
              <a:t>IBM Granite</a:t>
            </a:r>
            <a:r>
              <a:rPr lang="en-US" sz="2000" dirty="0" smtClean="0"/>
              <a:t> to generate intelligent and personalized travel recommendations. The agent collects important travel requirements such as destination, starting location, duration, budget, number of </a:t>
            </a:r>
            <a:r>
              <a:rPr lang="en-US" sz="2000" dirty="0" err="1" smtClean="0"/>
              <a:t>travellers</a:t>
            </a:r>
            <a:r>
              <a:rPr lang="en-US" sz="2000" dirty="0" smtClean="0"/>
              <a:t>, interests, and travel preferences. Based on these inputs, IBM Granite generates a customized itinerary including day-wise activities, sightseeing recommendations, transportation options, accommodation suggestions, food experiences, and estimated expenses. Users can also modify their requirements during the conversation, allowing the agent to dynamically optimize and regenerate the travel plan. The solution is designed using </a:t>
            </a:r>
            <a:r>
              <a:rPr lang="en-US" sz="2000" b="1" dirty="0" smtClean="0"/>
              <a:t>IBM Cloud </a:t>
            </a:r>
            <a:r>
              <a:rPr lang="en-US" sz="2000" b="1" dirty="0" err="1" smtClean="0"/>
              <a:t>Lite</a:t>
            </a:r>
            <a:r>
              <a:rPr lang="en-US" sz="2000" b="1" dirty="0" smtClean="0"/>
              <a:t> services</a:t>
            </a:r>
            <a:r>
              <a:rPr lang="en-US" sz="2000" dirty="0" smtClean="0"/>
              <a:t> and demonstrates how IBM's AI technologies can transform complex travel planning into a simple, interactive, and personalized experience.</a:t>
            </a:r>
          </a:p>
          <a:p>
            <a:pPr fontAlgn="base"/>
            <a:endParaRPr lang="en-US" dirty="0"/>
          </a:p>
          <a:p>
            <a:endParaRPr lang="en-IN" dirty="0"/>
          </a:p>
        </p:txBody>
      </p:sp>
      <p:sp>
        <p:nvSpPr>
          <p:cNvPr id="3" name="TextBox 2">
            <a:extLst>
              <a:ext uri="{FF2B5EF4-FFF2-40B4-BE49-F238E27FC236}">
                <a16:creationId xmlns:a16="http://schemas.microsoft.com/office/drawing/2014/main" xmlns="" id="{527F30CC-07EF-8FCC-DA00-C9212F5DAECE}"/>
              </a:ext>
            </a:extLst>
          </p:cNvPr>
          <p:cNvSpPr txBox="1"/>
          <p:nvPr/>
        </p:nvSpPr>
        <p:spPr>
          <a:xfrm>
            <a:off x="576072" y="704088"/>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xmlns="" val="619459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a:t>
            </a:r>
            <a:r>
              <a:rPr lang="en-US" sz="2400" b="1" dirty="0"/>
              <a:t> </a:t>
            </a:r>
            <a:r>
              <a:rPr lang="en-US" sz="2800" b="1" dirty="0"/>
              <a:t>Used</a:t>
            </a:r>
            <a:endParaRPr lang="en-IN" sz="2800" b="1" dirty="0"/>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40" y="1207008"/>
            <a:ext cx="10515600" cy="4493538"/>
          </a:xfrm>
          <a:prstGeom prst="rect">
            <a:avLst/>
          </a:prstGeom>
          <a:noFill/>
        </p:spPr>
        <p:txBody>
          <a:bodyPr wrap="square" rtlCol="0">
            <a:spAutoFit/>
          </a:bodyPr>
          <a:lstStyle/>
          <a:p>
            <a:pPr marL="285750" indent="-285750">
              <a:buFont typeface="Arial" panose="020B0604020202020204" pitchFamily="34" charset="0"/>
              <a:buChar char="•"/>
            </a:pPr>
            <a:r>
              <a:rPr lang="en-US" sz="2000" b="1" dirty="0" smtClean="0"/>
              <a:t>IBM </a:t>
            </a:r>
            <a:r>
              <a:rPr lang="en-US" sz="2000" b="1" dirty="0" err="1" smtClean="0"/>
              <a:t>watsonx</a:t>
            </a:r>
            <a:r>
              <a:rPr lang="en-US" sz="2000" b="1" dirty="0" smtClean="0"/>
              <a:t> Assistant</a:t>
            </a:r>
            <a:r>
              <a:rPr lang="en-US" sz="2000" dirty="0" smtClean="0"/>
              <a:t> – Used to build the conversational AI interface and manage interactions with </a:t>
            </a:r>
            <a:r>
              <a:rPr lang="en-US" sz="2000" dirty="0" err="1" smtClean="0"/>
              <a:t>travellers</a:t>
            </a:r>
            <a:r>
              <a:rPr lang="en-US" sz="2000" dirty="0" smtClean="0"/>
              <a:t>.</a:t>
            </a:r>
          </a:p>
          <a:p>
            <a:pPr marL="285750" indent="-285750">
              <a:buFont typeface="Arial" panose="020B0604020202020204" pitchFamily="34" charset="0"/>
              <a:buChar char="•"/>
            </a:pPr>
            <a:r>
              <a:rPr lang="en-US" sz="2000" b="1" dirty="0" smtClean="0"/>
              <a:t>IBM </a:t>
            </a:r>
            <a:r>
              <a:rPr lang="en-US" sz="2000" b="1" dirty="0" smtClean="0"/>
              <a:t>Granite</a:t>
            </a:r>
            <a:r>
              <a:rPr lang="en-US" sz="2000" dirty="0" smtClean="0"/>
              <a:t> – Used as the core generative AI model to understand </a:t>
            </a:r>
            <a:r>
              <a:rPr lang="en-US" sz="2000" dirty="0" err="1" smtClean="0"/>
              <a:t>traveller</a:t>
            </a:r>
            <a:r>
              <a:rPr lang="en-US" sz="2000" dirty="0" smtClean="0"/>
              <a:t> requirements and generate personalized itineraries, recommendations, and travel plans</a:t>
            </a:r>
            <a:r>
              <a:rPr lang="en-US" sz="2000" dirty="0" smtClean="0"/>
              <a:t>.</a:t>
            </a:r>
          </a:p>
          <a:p>
            <a:pPr marL="285750" indent="-285750">
              <a:buFont typeface="Arial" panose="020B0604020202020204" pitchFamily="34" charset="0"/>
              <a:buChar char="•"/>
            </a:pPr>
            <a:r>
              <a:rPr lang="en-US" sz="2000" b="1" dirty="0" smtClean="0"/>
              <a:t>IBM </a:t>
            </a:r>
            <a:r>
              <a:rPr lang="en-US" sz="2000" b="1" dirty="0" smtClean="0"/>
              <a:t>Cloud </a:t>
            </a:r>
            <a:r>
              <a:rPr lang="en-US" sz="2000" b="1" dirty="0" err="1" smtClean="0"/>
              <a:t>Lite</a:t>
            </a:r>
            <a:r>
              <a:rPr lang="en-US" sz="2000" b="1" dirty="0" smtClean="0"/>
              <a:t> Services</a:t>
            </a:r>
            <a:r>
              <a:rPr lang="en-US" sz="2000" dirty="0" smtClean="0"/>
              <a:t> – Used to develop, deploy, and support the cloud-based AI solution</a:t>
            </a:r>
            <a:r>
              <a:rPr lang="en-US" sz="2000" dirty="0" smtClean="0"/>
              <a:t>.</a:t>
            </a:r>
          </a:p>
          <a:p>
            <a:pPr marL="285750" indent="-285750">
              <a:buFont typeface="Arial" panose="020B0604020202020204" pitchFamily="34" charset="0"/>
              <a:buChar char="•"/>
            </a:pPr>
            <a:r>
              <a:rPr lang="en-US" sz="2000" b="1" dirty="0" smtClean="0"/>
              <a:t>IBM </a:t>
            </a:r>
            <a:r>
              <a:rPr lang="en-US" sz="2000" b="1" dirty="0" smtClean="0"/>
              <a:t>Bob</a:t>
            </a:r>
            <a:r>
              <a:rPr lang="en-US" sz="2000" dirty="0" smtClean="0"/>
              <a:t> – Used to design and develop the interactive and user-friendly website/frontend for the Travel Planner Agent</a:t>
            </a:r>
            <a:r>
              <a:rPr lang="en-US" sz="2000" dirty="0" smtClean="0"/>
              <a:t>.</a:t>
            </a:r>
          </a:p>
          <a:p>
            <a:pPr marL="285750" indent="-285750">
              <a:buFont typeface="Arial" panose="020B0604020202020204" pitchFamily="34" charset="0"/>
              <a:buChar char="•"/>
            </a:pPr>
            <a:r>
              <a:rPr lang="en-US" sz="2000" b="1" dirty="0" smtClean="0"/>
              <a:t>Web </a:t>
            </a:r>
            <a:r>
              <a:rPr lang="en-US" sz="2000" b="1" dirty="0" smtClean="0"/>
              <a:t>Technologies (HTML, CSS, JavaScript)</a:t>
            </a:r>
            <a:r>
              <a:rPr lang="en-US" sz="2000" dirty="0" smtClean="0"/>
              <a:t> – Used to create and customize the website interface and provide an engaging user experience</a:t>
            </a:r>
            <a:r>
              <a:rPr lang="en-US" sz="2000" dirty="0" smtClean="0"/>
              <a:t>.</a:t>
            </a:r>
          </a:p>
          <a:p>
            <a:pPr marL="285750" indent="-285750">
              <a:buFont typeface="Arial" panose="020B0604020202020204" pitchFamily="34" charset="0"/>
              <a:buChar char="•"/>
            </a:pPr>
            <a:r>
              <a:rPr lang="en-US" sz="2000" b="1" dirty="0" smtClean="0"/>
              <a:t>Prompt </a:t>
            </a:r>
            <a:r>
              <a:rPr lang="en-US" sz="2000" b="1" dirty="0" smtClean="0"/>
              <a:t>Engineering</a:t>
            </a:r>
            <a:r>
              <a:rPr lang="en-US" sz="2000" dirty="0" smtClean="0"/>
              <a:t> – Used to structure </a:t>
            </a:r>
            <a:r>
              <a:rPr lang="en-US" sz="2000" dirty="0" err="1" smtClean="0"/>
              <a:t>traveller</a:t>
            </a:r>
            <a:r>
              <a:rPr lang="en-US" sz="2000" dirty="0" smtClean="0"/>
              <a:t> information and guide IBM Granite to generate relevant, personalized, and budget-conscious travel recommendations.</a:t>
            </a:r>
            <a:endParaRPr lang="en-US" sz="20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xmlns="" val="443603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xmlns=""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xmlns="" id="{2A145802-2DD3-EEBA-7D44-210C05B98C91}"/>
              </a:ext>
            </a:extLst>
          </p:cNvPr>
          <p:cNvSpPr/>
          <p:nvPr/>
        </p:nvSpPr>
        <p:spPr>
          <a:xfrm>
            <a:off x="537590" y="323239"/>
            <a:ext cx="11121010"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dirty="0">
                <a:sym typeface="Times New Roman"/>
              </a:rPr>
              <a:t>Required Files created using IBM bob -</a:t>
            </a:r>
            <a:endParaRPr sz="2800" b="1">
              <a:sym typeface="Times New Roman"/>
            </a:endParaRPr>
          </a:p>
        </p:txBody>
      </p:sp>
      <p:sp>
        <p:nvSpPr>
          <p:cNvPr id="148" name="Google Shape;148;p5">
            <a:extLst>
              <a:ext uri="{FF2B5EF4-FFF2-40B4-BE49-F238E27FC236}">
                <a16:creationId xmlns:a16="http://schemas.microsoft.com/office/drawing/2014/main" xmlns=""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xmlns=""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xmlns=""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xmlns=""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xmlns=""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xmlns=""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xmlns="" id="{F1332F3F-EEF3-260F-52BA-62370775058E}"/>
              </a:ext>
            </a:extLst>
          </p:cNvPr>
          <p:cNvPicPr>
            <a:picLocks noChangeAspect="1"/>
          </p:cNvPicPr>
          <p:nvPr/>
        </p:nvPicPr>
        <p:blipFill>
          <a:blip r:embed="rId3"/>
          <a:stretch>
            <a:fillRect/>
          </a:stretch>
        </p:blipFill>
        <p:spPr>
          <a:xfrm>
            <a:off x="1863832" y="863187"/>
            <a:ext cx="8162481" cy="5336589"/>
          </a:xfrm>
          <a:prstGeom prst="rect">
            <a:avLst/>
          </a:prstGeom>
        </p:spPr>
      </p:pic>
    </p:spTree>
    <p:extLst>
      <p:ext uri="{BB962C8B-B14F-4D97-AF65-F5344CB8AC3E}">
        <p14:creationId xmlns:p14="http://schemas.microsoft.com/office/powerpoint/2010/main" xmlns="" val="3114963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i="0" u="none" strike="noStrike" cap="none" dirty="0">
                <a:solidFill>
                  <a:srgbClr val="051D3A"/>
                </a:solidFill>
                <a:latin typeface="Times New Roman"/>
                <a:ea typeface="Times New Roman"/>
                <a:cs typeface="Times New Roman"/>
                <a:sym typeface="Times New Roman"/>
              </a:rPr>
              <a:t> IBM Bob Screenshots:</a:t>
            </a:r>
            <a:endParaRPr sz="2800" b="1">
              <a:sym typeface="Times New Roman"/>
            </a:endParaRPr>
          </a:p>
        </p:txBody>
      </p:sp>
      <p:pic>
        <p:nvPicPr>
          <p:cNvPr id="4" name="Picture 3">
            <a:extLst>
              <a:ext uri="{FF2B5EF4-FFF2-40B4-BE49-F238E27FC236}">
                <a16:creationId xmlns:a16="http://schemas.microsoft.com/office/drawing/2014/main" xmlns="" id="{26AE77B4-704A-3A83-DF19-A19BAD53F97B}"/>
              </a:ext>
            </a:extLst>
          </p:cNvPr>
          <p:cNvPicPr>
            <a:picLocks noChangeAspect="1"/>
          </p:cNvPicPr>
          <p:nvPr/>
        </p:nvPicPr>
        <p:blipFill>
          <a:blip r:embed="rId3"/>
          <a:stretch>
            <a:fillRect/>
          </a:stretch>
        </p:blipFill>
        <p:spPr>
          <a:xfrm>
            <a:off x="587829" y="862241"/>
            <a:ext cx="10874828" cy="5685516"/>
          </a:xfrm>
          <a:prstGeom prst="rect">
            <a:avLst/>
          </a:prstGeom>
        </p:spPr>
      </p:pic>
    </p:spTree>
    <p:extLst>
      <p:ext uri="{BB962C8B-B14F-4D97-AF65-F5344CB8AC3E}">
        <p14:creationId xmlns:p14="http://schemas.microsoft.com/office/powerpoint/2010/main" xmlns="" val="1316545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849086" y="391886"/>
            <a:ext cx="10319657" cy="6204857"/>
          </a:xfrm>
          <a:prstGeom prst="rect">
            <a:avLst/>
          </a:prstGeom>
          <a:noFill/>
          <a:ln w="9525">
            <a:noFill/>
            <a:miter lim="800000"/>
            <a:headEnd/>
            <a:tailEnd/>
          </a:ln>
          <a:effectLst/>
        </p:spPr>
      </p:pic>
    </p:spTree>
    <p:extLst>
      <p:ext uri="{BB962C8B-B14F-4D97-AF65-F5344CB8AC3E}">
        <p14:creationId xmlns:p14="http://schemas.microsoft.com/office/powerpoint/2010/main" xmlns="" val="232371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xmlns="" id="{6697535D-EBF5-41DE-E93B-760133BF95C6}"/>
              </a:ext>
            </a:extLst>
          </p:cNvPr>
          <p:cNvPicPr>
            <a:picLocks noChangeAspect="1"/>
          </p:cNvPicPr>
          <p:nvPr/>
        </p:nvPicPr>
        <p:blipFill>
          <a:blip r:embed="rId3"/>
          <a:stretch>
            <a:fillRect/>
          </a:stretch>
        </p:blipFill>
        <p:spPr>
          <a:xfrm>
            <a:off x="537590" y="1053082"/>
            <a:ext cx="10550792" cy="4276002"/>
          </a:xfrm>
          <a:prstGeom prst="rect">
            <a:avLst/>
          </a:prstGeom>
        </p:spPr>
      </p:pic>
    </p:spTree>
    <p:extLst>
      <p:ext uri="{BB962C8B-B14F-4D97-AF65-F5344CB8AC3E}">
        <p14:creationId xmlns:p14="http://schemas.microsoft.com/office/powerpoint/2010/main" xmlns="" val="445195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xmlns=""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xmlns="" id="{322462E8-EB3A-DA7D-44CB-4E757803A755}"/>
              </a:ext>
            </a:extLst>
          </p:cNvPr>
          <p:cNvSpPr txBox="1"/>
          <p:nvPr/>
        </p:nvSpPr>
        <p:spPr>
          <a:xfrm>
            <a:off x="621792" y="1167493"/>
            <a:ext cx="7406640" cy="5262979"/>
          </a:xfrm>
          <a:prstGeom prst="rect">
            <a:avLst/>
          </a:prstGeom>
          <a:noFill/>
        </p:spPr>
        <p:txBody>
          <a:bodyPr wrap="square" rtlCol="0">
            <a:spAutoFit/>
          </a:bodyPr>
          <a:lstStyle/>
          <a:p>
            <a:r>
              <a:rPr lang="en-US" b="1" dirty="0" smtClean="0"/>
              <a:t>Role of </a:t>
            </a:r>
            <a:r>
              <a:rPr lang="en-US" b="1" dirty="0" err="1" smtClean="0"/>
              <a:t>Agentic</a:t>
            </a:r>
            <a:r>
              <a:rPr lang="en-US" b="1" dirty="0" smtClean="0"/>
              <a:t> AI in the Solution</a:t>
            </a:r>
          </a:p>
          <a:p>
            <a:r>
              <a:rPr lang="en-US" dirty="0" err="1" smtClean="0"/>
              <a:t>Agentic</a:t>
            </a:r>
            <a:r>
              <a:rPr lang="en-US" dirty="0" smtClean="0"/>
              <a:t> AI plays a central role in transforming the Travel Planner from a simple </a:t>
            </a:r>
            <a:r>
              <a:rPr lang="en-US" dirty="0" err="1" smtClean="0"/>
              <a:t>chatbot</a:t>
            </a:r>
            <a:r>
              <a:rPr lang="en-US" dirty="0" smtClean="0"/>
              <a:t> into an </a:t>
            </a:r>
            <a:r>
              <a:rPr lang="en-US" b="1" dirty="0" smtClean="0"/>
              <a:t>intelligent travel-planning assistant</a:t>
            </a:r>
            <a:r>
              <a:rPr lang="en-US" dirty="0" smtClean="0"/>
              <a:t>. The agent understands the </a:t>
            </a:r>
            <a:r>
              <a:rPr lang="en-US" dirty="0" err="1" smtClean="0"/>
              <a:t>traveller's</a:t>
            </a:r>
            <a:r>
              <a:rPr lang="en-US" dirty="0" smtClean="0"/>
              <a:t> goals, collects relevant information, reasons over constraints, generates a suitable plan, and continuously adapts the itinerary based on user feedback.</a:t>
            </a:r>
          </a:p>
          <a:p>
            <a:pPr>
              <a:buFont typeface="Arial"/>
              <a:buChar char="•"/>
            </a:pPr>
            <a:r>
              <a:rPr lang="en-US" b="1" dirty="0" smtClean="0"/>
              <a:t> </a:t>
            </a:r>
            <a:r>
              <a:rPr lang="en-US" b="1" dirty="0" smtClean="0"/>
              <a:t>Goal Understanding</a:t>
            </a:r>
            <a:r>
              <a:rPr lang="en-US" dirty="0" smtClean="0"/>
              <a:t> – Understands the </a:t>
            </a:r>
            <a:r>
              <a:rPr lang="en-US" dirty="0" err="1" smtClean="0"/>
              <a:t>traveller's</a:t>
            </a:r>
            <a:r>
              <a:rPr lang="en-US" dirty="0" smtClean="0"/>
              <a:t> objective, such as planning a 3-day trip to Mathura within a specific budget.</a:t>
            </a:r>
          </a:p>
          <a:p>
            <a:pPr>
              <a:buFont typeface="Arial"/>
              <a:buChar char="•"/>
            </a:pPr>
            <a:r>
              <a:rPr lang="en-US" b="1" dirty="0" smtClean="0"/>
              <a:t> </a:t>
            </a:r>
            <a:r>
              <a:rPr lang="en-US" b="1" dirty="0" smtClean="0"/>
              <a:t>Intelligent Reasoning</a:t>
            </a:r>
            <a:r>
              <a:rPr lang="en-US" dirty="0" smtClean="0"/>
              <a:t> – Analyzes multiple factors including budget, duration, interests, number of </a:t>
            </a:r>
            <a:r>
              <a:rPr lang="en-US" dirty="0" err="1" smtClean="0"/>
              <a:t>travellers</a:t>
            </a:r>
            <a:r>
              <a:rPr lang="en-US" dirty="0" smtClean="0"/>
              <a:t>, and travel preferences to create a practical plan.</a:t>
            </a:r>
          </a:p>
          <a:p>
            <a:pPr>
              <a:buFont typeface="Arial"/>
              <a:buChar char="•"/>
            </a:pPr>
            <a:r>
              <a:rPr lang="en-US" b="1" dirty="0" smtClean="0"/>
              <a:t> </a:t>
            </a:r>
            <a:r>
              <a:rPr lang="en-US" b="1" dirty="0" smtClean="0"/>
              <a:t>Autonomous Planning</a:t>
            </a:r>
            <a:r>
              <a:rPr lang="en-US" dirty="0" smtClean="0"/>
              <a:t> – Breaks the travel goal into smaller tasks such as sightseeing, transportation, accommodation, food, and daily scheduling.</a:t>
            </a:r>
          </a:p>
          <a:p>
            <a:pPr>
              <a:buFont typeface="Arial"/>
              <a:buChar char="•"/>
            </a:pPr>
            <a:r>
              <a:rPr lang="en-US" b="1" dirty="0" smtClean="0"/>
              <a:t> </a:t>
            </a:r>
            <a:r>
              <a:rPr lang="en-US" b="1" dirty="0" smtClean="0"/>
              <a:t>Constraint Management</a:t>
            </a:r>
            <a:r>
              <a:rPr lang="en-US" dirty="0" smtClean="0"/>
              <a:t> – Balances the itinerary against constraints such as budget, available time, and </a:t>
            </a:r>
            <a:r>
              <a:rPr lang="en-US" dirty="0" err="1" smtClean="0"/>
              <a:t>traveller</a:t>
            </a:r>
            <a:r>
              <a:rPr lang="en-US" dirty="0" smtClean="0"/>
              <a:t> preferences.</a:t>
            </a:r>
          </a:p>
          <a:p>
            <a:pPr>
              <a:buFont typeface="Arial"/>
              <a:buChar char="•"/>
            </a:pPr>
            <a:r>
              <a:rPr lang="en-US" b="1" dirty="0" smtClean="0"/>
              <a:t> </a:t>
            </a:r>
            <a:r>
              <a:rPr lang="en-US" b="1" dirty="0" smtClean="0"/>
              <a:t>Dynamic Adaptation</a:t>
            </a:r>
            <a:r>
              <a:rPr lang="en-US" dirty="0" smtClean="0"/>
              <a:t> – If the </a:t>
            </a:r>
            <a:r>
              <a:rPr lang="en-US" dirty="0" err="1" smtClean="0"/>
              <a:t>traveller</a:t>
            </a:r>
            <a:r>
              <a:rPr lang="en-US" dirty="0" smtClean="0"/>
              <a:t> says “reduce my budget,” “add one more day,” or “remove historical places,” the agent updates the plan instead of starting the conversation from scratch.</a:t>
            </a:r>
          </a:p>
          <a:p>
            <a:pPr>
              <a:buFont typeface="Arial"/>
              <a:buChar char="•"/>
            </a:pPr>
            <a:r>
              <a:rPr lang="en-US" b="1" dirty="0" smtClean="0"/>
              <a:t> </a:t>
            </a:r>
            <a:r>
              <a:rPr lang="en-US" b="1" dirty="0" smtClean="0"/>
              <a:t>Context-Aware Interaction</a:t>
            </a:r>
            <a:r>
              <a:rPr lang="en-US" dirty="0" smtClean="0"/>
              <a:t> – Maintains the context of the conversation so </a:t>
            </a:r>
            <a:r>
              <a:rPr lang="en-US" dirty="0" err="1" smtClean="0"/>
              <a:t>travellers</a:t>
            </a:r>
            <a:r>
              <a:rPr lang="en-US" dirty="0" smtClean="0"/>
              <a:t> can communicate naturally through follow-up requests.</a:t>
            </a:r>
          </a:p>
          <a:p>
            <a:pPr>
              <a:buFont typeface="Arial"/>
              <a:buChar char="•"/>
            </a:pPr>
            <a:r>
              <a:rPr lang="en-US" b="1" dirty="0" smtClean="0"/>
              <a:t> </a:t>
            </a:r>
            <a:r>
              <a:rPr lang="en-US" b="1" dirty="0" smtClean="0"/>
              <a:t>IBM Granite Integration</a:t>
            </a:r>
            <a:r>
              <a:rPr lang="en-US" dirty="0" smtClean="0"/>
              <a:t> – Uses IBM Granite to generate personalized recommendations, itineraries, and responses based on the information gathered by the agent.</a:t>
            </a:r>
          </a:p>
          <a:p>
            <a:pPr>
              <a:buFont typeface="Arial"/>
              <a:buChar char="•"/>
            </a:pPr>
            <a:r>
              <a:rPr lang="en-US" b="1" dirty="0" smtClean="0"/>
              <a:t> </a:t>
            </a:r>
            <a:r>
              <a:rPr lang="en-US" b="1" dirty="0" smtClean="0"/>
              <a:t>User Interaction through IBM Bob</a:t>
            </a:r>
            <a:r>
              <a:rPr lang="en-US" dirty="0" smtClean="0"/>
              <a:t> – IBM Bob provides the web interface through which </a:t>
            </a:r>
            <a:r>
              <a:rPr lang="en-US" dirty="0" err="1" smtClean="0"/>
              <a:t>travellers</a:t>
            </a:r>
            <a:r>
              <a:rPr lang="en-US" dirty="0" smtClean="0"/>
              <a:t> interact with the agent in an intuitive manner.</a:t>
            </a:r>
          </a:p>
          <a:p>
            <a:pPr>
              <a:buFont typeface="Arial"/>
              <a:buChar char="•"/>
            </a:pPr>
            <a:r>
              <a:rPr lang="en-US" b="1" dirty="0" smtClean="0"/>
              <a:t> </a:t>
            </a:r>
            <a:r>
              <a:rPr lang="en-US" b="1" dirty="0" smtClean="0"/>
              <a:t>Continuous Optimization</a:t>
            </a:r>
            <a:r>
              <a:rPr lang="en-US" dirty="0" smtClean="0"/>
              <a:t> – The agent can evaluate the current travel plan and propose improvements whenever the </a:t>
            </a:r>
            <a:r>
              <a:rPr lang="en-US" dirty="0" err="1" smtClean="0"/>
              <a:t>traveller's</a:t>
            </a:r>
            <a:r>
              <a:rPr lang="en-US" dirty="0" smtClean="0"/>
              <a:t> requirements change.</a:t>
            </a:r>
            <a:endParaRPr lang="en-US" dirty="0"/>
          </a:p>
        </p:txBody>
      </p:sp>
    </p:spTree>
    <p:extLst>
      <p:ext uri="{BB962C8B-B14F-4D97-AF65-F5344CB8AC3E}">
        <p14:creationId xmlns:p14="http://schemas.microsoft.com/office/powerpoint/2010/main" xmlns="" val="4000696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xmlns=""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xmlns="" id="{E430EE8C-8F89-5938-483F-00452050511A}"/>
              </a:ext>
            </a:extLst>
          </p:cNvPr>
          <p:cNvPicPr>
            <a:picLocks noChangeAspect="1"/>
          </p:cNvPicPr>
          <p:nvPr/>
        </p:nvPicPr>
        <p:blipFill>
          <a:blip r:embed="rId3"/>
          <a:stretch>
            <a:fillRect/>
          </a:stretch>
        </p:blipFill>
        <p:spPr>
          <a:xfrm>
            <a:off x="409144" y="931921"/>
            <a:ext cx="11163874" cy="5622638"/>
          </a:xfrm>
          <a:prstGeom prst="rect">
            <a:avLst/>
          </a:prstGeom>
        </p:spPr>
      </p:pic>
    </p:spTree>
    <p:extLst>
      <p:ext uri="{BB962C8B-B14F-4D97-AF65-F5344CB8AC3E}">
        <p14:creationId xmlns:p14="http://schemas.microsoft.com/office/powerpoint/2010/main" xmlns=""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xmlns=""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xmlns="" id="{146B9DE6-C4BB-B81B-528A-B8789445C3FE}"/>
              </a:ext>
            </a:extLst>
          </p:cNvPr>
          <p:cNvPicPr>
            <a:picLocks noChangeAspect="1"/>
          </p:cNvPicPr>
          <p:nvPr/>
        </p:nvPicPr>
        <p:blipFill>
          <a:blip r:embed="rId3"/>
          <a:stretch>
            <a:fillRect/>
          </a:stretch>
        </p:blipFill>
        <p:spPr>
          <a:xfrm>
            <a:off x="561749" y="1019936"/>
            <a:ext cx="10493347" cy="5257604"/>
          </a:xfrm>
          <a:prstGeom prst="rect">
            <a:avLst/>
          </a:prstGeom>
        </p:spPr>
      </p:pic>
    </p:spTree>
    <p:extLst>
      <p:ext uri="{BB962C8B-B14F-4D97-AF65-F5344CB8AC3E}">
        <p14:creationId xmlns:p14="http://schemas.microsoft.com/office/powerpoint/2010/main" xmlns=""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xmlns=""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xmlns="" id="{BA6C1B5E-405A-0E58-2397-353A88D82B9B}"/>
              </a:ext>
            </a:extLst>
          </p:cNvPr>
          <p:cNvPicPr>
            <a:picLocks noChangeAspect="1"/>
          </p:cNvPicPr>
          <p:nvPr/>
        </p:nvPicPr>
        <p:blipFill>
          <a:blip r:embed="rId3"/>
          <a:stretch>
            <a:fillRect/>
          </a:stretch>
        </p:blipFill>
        <p:spPr>
          <a:xfrm>
            <a:off x="526907" y="1047687"/>
            <a:ext cx="10583014" cy="5319067"/>
          </a:xfrm>
          <a:prstGeom prst="rect">
            <a:avLst/>
          </a:prstGeom>
        </p:spPr>
      </p:pic>
    </p:spTree>
    <p:extLst>
      <p:ext uri="{BB962C8B-B14F-4D97-AF65-F5344CB8AC3E}">
        <p14:creationId xmlns:p14="http://schemas.microsoft.com/office/powerpoint/2010/main" xmlns=""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A184BA-BCF2-3D7B-30D0-0F3CF30C161B}"/>
              </a:ext>
            </a:extLst>
          </p:cNvPr>
          <p:cNvSpPr txBox="1"/>
          <p:nvPr/>
        </p:nvSpPr>
        <p:spPr>
          <a:xfrm>
            <a:off x="744583" y="207046"/>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xmlns="" id="{ED65F54F-855A-0DB6-09A6-3212C5F7405B}"/>
              </a:ext>
            </a:extLst>
          </p:cNvPr>
          <p:cNvSpPr txBox="1"/>
          <p:nvPr/>
        </p:nvSpPr>
        <p:spPr>
          <a:xfrm>
            <a:off x="277586" y="881743"/>
            <a:ext cx="11801638" cy="5632311"/>
          </a:xfrm>
          <a:prstGeom prst="rect">
            <a:avLst/>
          </a:prstGeom>
          <a:noFill/>
        </p:spPr>
        <p:txBody>
          <a:bodyPr wrap="square" rtlCol="0">
            <a:spAutoFit/>
          </a:bodyPr>
          <a:lstStyle/>
          <a:p>
            <a:pPr>
              <a:buFont typeface="Arial"/>
              <a:buChar char="•"/>
            </a:pPr>
            <a:r>
              <a:rPr lang="en-US" sz="2000" b="1" dirty="0" smtClean="0"/>
              <a:t>Conversational </a:t>
            </a:r>
            <a:r>
              <a:rPr lang="en-US" sz="2000" b="1" dirty="0" smtClean="0"/>
              <a:t>Trip Planning:</a:t>
            </a:r>
            <a:r>
              <a:rPr lang="en-US" sz="2000" dirty="0" smtClean="0"/>
              <a:t> </a:t>
            </a:r>
            <a:r>
              <a:rPr lang="en-US" sz="2000" dirty="0" err="1" smtClean="0"/>
              <a:t>Travellers</a:t>
            </a:r>
            <a:r>
              <a:rPr lang="en-US" sz="2000" dirty="0" smtClean="0"/>
              <a:t> can simply describe their requirements in natural language instead of filling out complex forms or searching across multiple platforms.</a:t>
            </a:r>
          </a:p>
          <a:p>
            <a:pPr>
              <a:buFont typeface="Arial"/>
              <a:buChar char="•"/>
            </a:pPr>
            <a:r>
              <a:rPr lang="en-US" sz="2000" b="1" dirty="0" smtClean="0"/>
              <a:t>Personalized Itinerary Generation:</a:t>
            </a:r>
            <a:r>
              <a:rPr lang="en-US" sz="2000" dirty="0" smtClean="0"/>
              <a:t> </a:t>
            </a:r>
            <a:r>
              <a:rPr lang="en-US" sz="2000" b="1" dirty="0" smtClean="0"/>
              <a:t>IBM Granite</a:t>
            </a:r>
            <a:r>
              <a:rPr lang="en-US" sz="2000" dirty="0" smtClean="0"/>
              <a:t> analyzes the </a:t>
            </a:r>
            <a:r>
              <a:rPr lang="en-US" sz="2000" dirty="0" err="1" smtClean="0"/>
              <a:t>traveller's</a:t>
            </a:r>
            <a:r>
              <a:rPr lang="en-US" sz="2000" dirty="0" smtClean="0"/>
              <a:t> destination, budget, duration, interests, and preferences to generate a customized day-wise itinerary.</a:t>
            </a:r>
          </a:p>
          <a:p>
            <a:pPr>
              <a:buFont typeface="Arial"/>
              <a:buChar char="•"/>
            </a:pPr>
            <a:r>
              <a:rPr lang="en-US" sz="2000" b="1" dirty="0" smtClean="0"/>
              <a:t>Dynamic Plan Optimization:</a:t>
            </a:r>
            <a:r>
              <a:rPr lang="en-US" sz="2000" dirty="0" smtClean="0"/>
              <a:t> The itinerary is not static. If the </a:t>
            </a:r>
            <a:r>
              <a:rPr lang="en-US" sz="2000" dirty="0" err="1" smtClean="0"/>
              <a:t>traveller</a:t>
            </a:r>
            <a:r>
              <a:rPr lang="en-US" sz="2000" dirty="0" smtClean="0"/>
              <a:t> changes the budget, duration, interests, or activities, the agent can modify and regenerate the plan accordingly.</a:t>
            </a:r>
          </a:p>
          <a:p>
            <a:pPr>
              <a:buFont typeface="Arial"/>
              <a:buChar char="•"/>
            </a:pPr>
            <a:r>
              <a:rPr lang="en-US" sz="2000" b="1" dirty="0" smtClean="0"/>
              <a:t>Budget-Aware Recommendations:</a:t>
            </a:r>
            <a:r>
              <a:rPr lang="en-US" sz="2000" dirty="0" smtClean="0"/>
              <a:t> The agent considers the </a:t>
            </a:r>
            <a:r>
              <a:rPr lang="en-US" sz="2000" dirty="0" err="1" smtClean="0"/>
              <a:t>traveller's</a:t>
            </a:r>
            <a:r>
              <a:rPr lang="en-US" sz="2000" dirty="0" smtClean="0"/>
              <a:t> budget while organizing transportation, accommodation, food, and activities, helping create a practical travel plan.</a:t>
            </a:r>
          </a:p>
          <a:p>
            <a:pPr>
              <a:buFont typeface="Arial"/>
              <a:buChar char="•"/>
            </a:pPr>
            <a:r>
              <a:rPr lang="en-US" sz="2000" b="1" dirty="0" smtClean="0"/>
              <a:t>Context-Aware Conversation:</a:t>
            </a:r>
            <a:r>
              <a:rPr lang="en-US" sz="2000" dirty="0" smtClean="0"/>
              <a:t> The agent maintains the </a:t>
            </a:r>
            <a:r>
              <a:rPr lang="en-US" sz="2000" dirty="0" err="1" smtClean="0"/>
              <a:t>traveller's</a:t>
            </a:r>
            <a:r>
              <a:rPr lang="en-US" sz="2000" dirty="0" smtClean="0"/>
              <a:t> requirements throughout the conversation, allowing follow-up requests such as “make it cheaper,” “add one more day,” or “remove crowded places.”</a:t>
            </a:r>
          </a:p>
          <a:p>
            <a:pPr>
              <a:buFont typeface="Arial"/>
              <a:buChar char="•"/>
            </a:pPr>
            <a:r>
              <a:rPr lang="en-US" sz="2000" b="1" dirty="0" smtClean="0"/>
              <a:t>IBM Granite-Powered Intelligence:</a:t>
            </a:r>
            <a:r>
              <a:rPr lang="en-US" sz="2000" dirty="0" smtClean="0"/>
              <a:t> Granite is used to transform collected travel preferences into meaningful recommendations and structured itineraries rather than using only predefined responses.</a:t>
            </a:r>
          </a:p>
          <a:p>
            <a:pPr>
              <a:buFont typeface="Arial"/>
              <a:buChar char="•"/>
            </a:pPr>
            <a:r>
              <a:rPr lang="en-US" sz="2000" b="1" dirty="0" smtClean="0"/>
              <a:t>Interactive Web Experience:</a:t>
            </a:r>
            <a:r>
              <a:rPr lang="en-US" sz="2000" dirty="0" smtClean="0"/>
              <a:t> </a:t>
            </a:r>
            <a:r>
              <a:rPr lang="en-US" sz="2000" b="1" dirty="0" smtClean="0"/>
              <a:t>IBM Bob</a:t>
            </a:r>
            <a:r>
              <a:rPr lang="en-US" sz="2000" dirty="0" smtClean="0"/>
              <a:t> is used to create the user-friendly website interface, making the AI travel-planning experience accessible through a modern web application.</a:t>
            </a:r>
          </a:p>
          <a:p>
            <a:pPr>
              <a:buFont typeface="Arial"/>
              <a:buChar char="•"/>
            </a:pPr>
            <a:r>
              <a:rPr lang="en-US" sz="2000" b="1" dirty="0" smtClean="0"/>
              <a:t>Integrated IBM Technology Stack:</a:t>
            </a:r>
            <a:r>
              <a:rPr lang="en-US" sz="2000" dirty="0" smtClean="0"/>
              <a:t> The combination of </a:t>
            </a:r>
            <a:r>
              <a:rPr lang="en-US" sz="2000" b="1" dirty="0" smtClean="0"/>
              <a:t>IBM Bob + IBM </a:t>
            </a:r>
            <a:r>
              <a:rPr lang="en-US" sz="2000" b="1" dirty="0" err="1" smtClean="0"/>
              <a:t>watsonx</a:t>
            </a:r>
            <a:r>
              <a:rPr lang="en-US" sz="2000" b="1" dirty="0" smtClean="0"/>
              <a:t> Assistant + IBM Granite + IBM Cloud </a:t>
            </a:r>
            <a:r>
              <a:rPr lang="en-US" sz="2000" b="1" dirty="0" err="1" smtClean="0"/>
              <a:t>Lite</a:t>
            </a:r>
            <a:r>
              <a:rPr lang="en-US" sz="2000" b="1" dirty="0" smtClean="0"/>
              <a:t> services</a:t>
            </a:r>
            <a:r>
              <a:rPr lang="en-US" sz="2000" dirty="0" smtClean="0"/>
              <a:t> creates an end-to-end AI travel-planning solution using IBM technologies.</a:t>
            </a:r>
            <a:endParaRPr lang="en-US" sz="2000" dirty="0"/>
          </a:p>
        </p:txBody>
      </p:sp>
    </p:spTree>
    <p:extLst>
      <p:ext uri="{BB962C8B-B14F-4D97-AF65-F5344CB8AC3E}">
        <p14:creationId xmlns:p14="http://schemas.microsoft.com/office/powerpoint/2010/main" xmlns=""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xmlns=""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sz="2000" dirty="0" smtClean="0"/>
              <a:t>The Travel Planner Agent can be further enhanced into a complete intelligent travel companion by adding advanced AI capabilities and real-time services.</a:t>
            </a:r>
          </a:p>
          <a:p>
            <a:pPr>
              <a:buFont typeface="Arial"/>
              <a:buChar char="•"/>
            </a:pPr>
            <a:r>
              <a:rPr lang="en-US" sz="2000" b="1" dirty="0" smtClean="0"/>
              <a:t>  Real-Time </a:t>
            </a:r>
            <a:r>
              <a:rPr lang="en-US" sz="2000" b="1" dirty="0" smtClean="0"/>
              <a:t>Weather Integration</a:t>
            </a:r>
            <a:r>
              <a:rPr lang="en-US" sz="2000" dirty="0" smtClean="0"/>
              <a:t> – Provide live weather conditions and forecasts for destinations and automatically adjust itineraries when weather conditions change.</a:t>
            </a:r>
          </a:p>
          <a:p>
            <a:pPr>
              <a:buFont typeface="Arial"/>
              <a:buChar char="•"/>
            </a:pPr>
            <a:r>
              <a:rPr lang="en-US" sz="2000" b="1" dirty="0" smtClean="0"/>
              <a:t>  Maps </a:t>
            </a:r>
            <a:r>
              <a:rPr lang="en-US" sz="2000" b="1" dirty="0" smtClean="0"/>
              <a:t>and Route Optimization</a:t>
            </a:r>
            <a:r>
              <a:rPr lang="en-US" sz="2000" dirty="0" smtClean="0"/>
              <a:t> – Integrate mapping services to calculate routes, travel times, distances, and optimize the order of attractions.</a:t>
            </a:r>
          </a:p>
          <a:p>
            <a:pPr>
              <a:buFont typeface="Arial"/>
              <a:buChar char="•"/>
            </a:pPr>
            <a:r>
              <a:rPr lang="en-US" sz="2000" b="1" dirty="0" smtClean="0"/>
              <a:t>  Booking </a:t>
            </a:r>
            <a:r>
              <a:rPr lang="en-US" sz="2000" b="1" dirty="0" smtClean="0"/>
              <a:t>Assistance</a:t>
            </a:r>
            <a:r>
              <a:rPr lang="en-US" sz="2000" dirty="0" smtClean="0"/>
              <a:t> – Extend the agent to assist with hotel, flight, train, bus, and activity bookings.</a:t>
            </a:r>
          </a:p>
          <a:p>
            <a:pPr>
              <a:buFont typeface="Arial"/>
              <a:buChar char="•"/>
            </a:pPr>
            <a:r>
              <a:rPr lang="en-US" sz="2000" b="1" dirty="0" smtClean="0"/>
              <a:t>  Real-Time </a:t>
            </a:r>
            <a:r>
              <a:rPr lang="en-US" sz="2000" b="1" dirty="0" smtClean="0"/>
              <a:t>Price Comparison</a:t>
            </a:r>
            <a:r>
              <a:rPr lang="en-US" sz="2000" dirty="0" smtClean="0"/>
              <a:t> – Compare transportation and accommodation prices to identify cost-effective options.</a:t>
            </a:r>
          </a:p>
          <a:p>
            <a:pPr>
              <a:buFont typeface="Arial"/>
              <a:buChar char="•"/>
            </a:pPr>
            <a:r>
              <a:rPr lang="en-US" sz="2000" b="1" dirty="0" smtClean="0"/>
              <a:t>  Smart </a:t>
            </a:r>
            <a:r>
              <a:rPr lang="en-US" sz="2000" b="1" dirty="0" smtClean="0"/>
              <a:t>Travel Alerts</a:t>
            </a:r>
            <a:r>
              <a:rPr lang="en-US" sz="2000" dirty="0" smtClean="0"/>
              <a:t> – Notify </a:t>
            </a:r>
            <a:r>
              <a:rPr lang="en-US" sz="2000" dirty="0" err="1" smtClean="0"/>
              <a:t>travellers</a:t>
            </a:r>
            <a:r>
              <a:rPr lang="en-US" sz="2000" dirty="0" smtClean="0"/>
              <a:t> about weather changes, delays, cancellations, schedule changes, and other important travel updates.</a:t>
            </a:r>
          </a:p>
          <a:p>
            <a:pPr>
              <a:buFont typeface="Arial"/>
              <a:buChar char="•"/>
            </a:pPr>
            <a:r>
              <a:rPr lang="en-US" sz="2000" b="1" dirty="0" smtClean="0"/>
              <a:t>  </a:t>
            </a:r>
            <a:r>
              <a:rPr lang="en-US" sz="2000" b="1" dirty="0" smtClean="0"/>
              <a:t>Multilingual Travel Assistance</a:t>
            </a:r>
            <a:r>
              <a:rPr lang="en-US" sz="2000" dirty="0" smtClean="0"/>
              <a:t> – Support multiple languages so </a:t>
            </a:r>
            <a:r>
              <a:rPr lang="en-US" sz="2000" dirty="0" err="1" smtClean="0"/>
              <a:t>travellers</a:t>
            </a:r>
            <a:r>
              <a:rPr lang="en-US" sz="2000" dirty="0" smtClean="0"/>
              <a:t> can communicate with the agent in their preferred language</a:t>
            </a:r>
            <a:r>
              <a:rPr lang="en-US" sz="2000" dirty="0" smtClean="0"/>
              <a:t>.</a:t>
            </a:r>
            <a:endParaRPr lang="en-US" sz="2000" dirty="0" smtClean="0"/>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smtClean="0">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xmlns="" val="740028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err="1" smtClean="0">
                <a:sym typeface="Times New Roman"/>
              </a:rPr>
              <a:t>Git</a:t>
            </a:r>
            <a:r>
              <a:rPr lang="en-US" sz="2800" b="1" dirty="0" smtClean="0">
                <a:sym typeface="Times New Roman"/>
              </a:rPr>
              <a:t> </a:t>
            </a:r>
            <a:r>
              <a:rPr lang="en-US" sz="2800" b="1" dirty="0">
                <a:sym typeface="Times New Roman"/>
              </a:rPr>
              <a:t>Hub Link</a:t>
            </a:r>
            <a:endParaRPr sz="2800" b="1">
              <a:sym typeface="Times New Roman"/>
            </a:endParaRPr>
          </a:p>
        </p:txBody>
      </p:sp>
      <p:sp>
        <p:nvSpPr>
          <p:cNvPr id="279" name="Google Shape;279;p18">
            <a:extLst>
              <a:ext uri="{FF2B5EF4-FFF2-40B4-BE49-F238E27FC236}">
                <a16:creationId xmlns:a16="http://schemas.microsoft.com/office/drawing/2014/main" xmlns=""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1" dirty="0" smtClean="0">
                <a:solidFill>
                  <a:srgbClr val="2B3541"/>
                </a:solidFill>
                <a:latin typeface="Times New Roman"/>
                <a:ea typeface="Times New Roman"/>
                <a:cs typeface="Times New Roman"/>
                <a:sym typeface="Times New Roman"/>
              </a:rPr>
              <a:t>https://github.com/AyushmanSaxena/Travel-Planner</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xmlns="" val="4040412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xmlns=""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 </a:t>
            </a:r>
          </a:p>
        </p:txBody>
      </p:sp>
      <p:pic>
        <p:nvPicPr>
          <p:cNvPr id="5" name="Picture 4">
            <a:extLst>
              <a:ext uri="{FF2B5EF4-FFF2-40B4-BE49-F238E27FC236}">
                <a16:creationId xmlns:a16="http://schemas.microsoft.com/office/drawing/2014/main" xmlns="" id="{ECA1DC75-9677-2534-42C6-0CCDB0680091}"/>
              </a:ext>
            </a:extLst>
          </p:cNvPr>
          <p:cNvPicPr>
            <a:picLocks noChangeAspect="1"/>
          </p:cNvPicPr>
          <p:nvPr/>
        </p:nvPicPr>
        <p:blipFill>
          <a:blip r:embed="rId2"/>
          <a:stretch>
            <a:fillRect/>
          </a:stretch>
        </p:blipFill>
        <p:spPr>
          <a:xfrm>
            <a:off x="2452266" y="1423459"/>
            <a:ext cx="6299678" cy="4744480"/>
          </a:xfrm>
          <a:prstGeom prst="rect">
            <a:avLst/>
          </a:prstGeom>
        </p:spPr>
      </p:pic>
    </p:spTree>
    <p:extLst>
      <p:ext uri="{BB962C8B-B14F-4D97-AF65-F5344CB8AC3E}">
        <p14:creationId xmlns:p14="http://schemas.microsoft.com/office/powerpoint/2010/main" xmlns=""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xmlns="" id="{099C3698-991D-7A38-C456-893C84C23FC9}"/>
              </a:ext>
            </a:extLst>
          </p:cNvPr>
          <p:cNvPicPr>
            <a:picLocks noChangeAspect="1"/>
          </p:cNvPicPr>
          <p:nvPr/>
        </p:nvPicPr>
        <p:blipFill>
          <a:blip r:embed="rId2"/>
          <a:stretch>
            <a:fillRect/>
          </a:stretch>
        </p:blipFill>
        <p:spPr>
          <a:xfrm>
            <a:off x="1478280" y="1569720"/>
            <a:ext cx="9616440" cy="4876800"/>
          </a:xfrm>
          <a:prstGeom prst="rect">
            <a:avLst/>
          </a:prstGeom>
        </p:spPr>
      </p:pic>
      <p:sp>
        <p:nvSpPr>
          <p:cNvPr id="5" name="TextBox 4">
            <a:extLst>
              <a:ext uri="{FF2B5EF4-FFF2-40B4-BE49-F238E27FC236}">
                <a16:creationId xmlns:a16="http://schemas.microsoft.com/office/drawing/2014/main" xmlns="" id="{CA8544A9-CF92-3FAF-D3EE-31DF90F7A64D}"/>
              </a:ext>
            </a:extLst>
          </p:cNvPr>
          <p:cNvSpPr txBox="1"/>
          <p:nvPr/>
        </p:nvSpPr>
        <p:spPr>
          <a:xfrm>
            <a:off x="176696" y="226391"/>
            <a:ext cx="609600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dirty="0">
                <a:solidFill>
                  <a:srgbClr val="000000"/>
                </a:solidFill>
                <a:latin typeface="+mj-lt"/>
              </a:rPr>
              <a:t>Certificates Earned:</a:t>
            </a:r>
            <a:r>
              <a:rPr sz="2800" b="0" i="0">
                <a:solidFill>
                  <a:srgbClr val="000000"/>
                </a:solidFill>
                <a:latin typeface="+mj-lt"/>
                <a:ea typeface="Arial"/>
                <a:cs typeface="Arial"/>
              </a:rPr>
              <a:t>​</a:t>
            </a:r>
            <a:endParaRPr lang="en-US" sz="2800" dirty="0">
              <a:latin typeface="+mj-lt"/>
            </a:endParaRPr>
          </a:p>
          <a:p>
            <a:pPr algn="ctr"/>
            <a:endParaRPr lang="en-US" sz="2800" dirty="0">
              <a:latin typeface="+mj-lt"/>
            </a:endParaRPr>
          </a:p>
        </p:txBody>
      </p:sp>
    </p:spTree>
    <p:extLst>
      <p:ext uri="{BB962C8B-B14F-4D97-AF65-F5344CB8AC3E}">
        <p14:creationId xmlns:p14="http://schemas.microsoft.com/office/powerpoint/2010/main" xmlns=""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xmlns=""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TotalTime>
  <Words>1140</Words>
  <Application>Microsoft Office PowerPoint</Application>
  <PresentationFormat>Custom</PresentationFormat>
  <Paragraphs>100</Paragraphs>
  <Slides>20</Slides>
  <Notes>15</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IBM University Engagement Project Submission </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Anurag</cp:lastModifiedBy>
  <cp:revision>13</cp:revision>
  <dcterms:created xsi:type="dcterms:W3CDTF">2025-07-08T05:06:56Z</dcterms:created>
  <dcterms:modified xsi:type="dcterms:W3CDTF">2026-09-11T11:22:00Z</dcterms:modified>
</cp:coreProperties>
</file>